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0C156F-5A5A-470D-9D27-5BFC85581B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7E39B6-1B93-4D2F-9E4E-0B56D25E6DFC}">
      <dgm:prSet/>
      <dgm:spPr/>
      <dgm:t>
        <a:bodyPr/>
        <a:lstStyle/>
        <a:p>
          <a:r>
            <a:rPr lang="en-US"/>
            <a:t>Operating in 48 States.</a:t>
          </a:r>
        </a:p>
      </dgm:t>
    </dgm:pt>
    <dgm:pt modelId="{4B29E705-2859-4309-B842-6D35385C968B}" type="parTrans" cxnId="{D20868FA-16D7-4C18-A223-E557B4E2CCB9}">
      <dgm:prSet/>
      <dgm:spPr/>
      <dgm:t>
        <a:bodyPr/>
        <a:lstStyle/>
        <a:p>
          <a:endParaRPr lang="en-US"/>
        </a:p>
      </dgm:t>
    </dgm:pt>
    <dgm:pt modelId="{2C5005DB-E98C-425F-968C-7DEA84545B2C}" type="sibTrans" cxnId="{D20868FA-16D7-4C18-A223-E557B4E2CCB9}">
      <dgm:prSet/>
      <dgm:spPr/>
      <dgm:t>
        <a:bodyPr/>
        <a:lstStyle/>
        <a:p>
          <a:endParaRPr lang="en-US"/>
        </a:p>
      </dgm:t>
    </dgm:pt>
    <dgm:pt modelId="{525867F0-517F-4CDB-AA1F-40B4553821F0}">
      <dgm:prSet/>
      <dgm:spPr/>
      <dgm:t>
        <a:bodyPr/>
        <a:lstStyle/>
        <a:p>
          <a:r>
            <a:rPr lang="en-US"/>
            <a:t>Challenge: High revenue growth vs. inconsistent profit margins.</a:t>
          </a:r>
        </a:p>
      </dgm:t>
    </dgm:pt>
    <dgm:pt modelId="{EA80808B-658A-4A1E-97A3-266864AD4413}" type="parTrans" cxnId="{E6BC8ECB-7118-4842-9E6F-7242A8E37990}">
      <dgm:prSet/>
      <dgm:spPr/>
      <dgm:t>
        <a:bodyPr/>
        <a:lstStyle/>
        <a:p>
          <a:endParaRPr lang="en-US"/>
        </a:p>
      </dgm:t>
    </dgm:pt>
    <dgm:pt modelId="{CAB74682-6242-43ED-99FD-40CAFE8BE768}" type="sibTrans" cxnId="{E6BC8ECB-7118-4842-9E6F-7242A8E37990}">
      <dgm:prSet/>
      <dgm:spPr/>
      <dgm:t>
        <a:bodyPr/>
        <a:lstStyle/>
        <a:p>
          <a:endParaRPr lang="en-US"/>
        </a:p>
      </dgm:t>
    </dgm:pt>
    <dgm:pt modelId="{370FEDC8-038A-4966-8D09-248604869D78}">
      <dgm:prSet/>
      <dgm:spPr/>
      <dgm:t>
        <a:bodyPr/>
        <a:lstStyle/>
        <a:p>
          <a:r>
            <a:rPr lang="en-US"/>
            <a:t>Goal: Identify "Profit Leaks" and optimize discounting.</a:t>
          </a:r>
        </a:p>
      </dgm:t>
    </dgm:pt>
    <dgm:pt modelId="{DC4972A9-9966-42D8-8472-CD2090FD5041}" type="parTrans" cxnId="{EADE7B63-905D-4D67-A9FA-26AC4FDD265A}">
      <dgm:prSet/>
      <dgm:spPr/>
      <dgm:t>
        <a:bodyPr/>
        <a:lstStyle/>
        <a:p>
          <a:endParaRPr lang="en-US"/>
        </a:p>
      </dgm:t>
    </dgm:pt>
    <dgm:pt modelId="{9E3E3998-2722-49AC-B2CA-B2DD43B1E776}" type="sibTrans" cxnId="{EADE7B63-905D-4D67-A9FA-26AC4FDD265A}">
      <dgm:prSet/>
      <dgm:spPr/>
      <dgm:t>
        <a:bodyPr/>
        <a:lstStyle/>
        <a:p>
          <a:endParaRPr lang="en-US"/>
        </a:p>
      </dgm:t>
    </dgm:pt>
    <dgm:pt modelId="{6B213CA1-3097-43FA-9791-2455F0332E77}" type="pres">
      <dgm:prSet presAssocID="{6E0C156F-5A5A-470D-9D27-5BFC85581B99}" presName="root" presStyleCnt="0">
        <dgm:presLayoutVars>
          <dgm:dir/>
          <dgm:resizeHandles val="exact"/>
        </dgm:presLayoutVars>
      </dgm:prSet>
      <dgm:spPr/>
    </dgm:pt>
    <dgm:pt modelId="{236C382F-9F09-48F0-8D51-94EC8365B404}" type="pres">
      <dgm:prSet presAssocID="{D27E39B6-1B93-4D2F-9E4E-0B56D25E6DFC}" presName="compNode" presStyleCnt="0"/>
      <dgm:spPr/>
    </dgm:pt>
    <dgm:pt modelId="{52950BDF-2553-4F48-9712-EE4FE2180BDE}" type="pres">
      <dgm:prSet presAssocID="{D27E39B6-1B93-4D2F-9E4E-0B56D25E6DFC}" presName="bgRect" presStyleLbl="bgShp" presStyleIdx="0" presStyleCnt="3"/>
      <dgm:spPr/>
    </dgm:pt>
    <dgm:pt modelId="{CAF1809A-E987-492B-9348-CCBE76D2BCEE}" type="pres">
      <dgm:prSet presAssocID="{D27E39B6-1B93-4D2F-9E4E-0B56D25E6DF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EDD4A96F-0EEF-493E-9A81-E190AB71C6C5}" type="pres">
      <dgm:prSet presAssocID="{D27E39B6-1B93-4D2F-9E4E-0B56D25E6DFC}" presName="spaceRect" presStyleCnt="0"/>
      <dgm:spPr/>
    </dgm:pt>
    <dgm:pt modelId="{4CCACC37-BE93-446F-917D-220C0545AE83}" type="pres">
      <dgm:prSet presAssocID="{D27E39B6-1B93-4D2F-9E4E-0B56D25E6DFC}" presName="parTx" presStyleLbl="revTx" presStyleIdx="0" presStyleCnt="3">
        <dgm:presLayoutVars>
          <dgm:chMax val="0"/>
          <dgm:chPref val="0"/>
        </dgm:presLayoutVars>
      </dgm:prSet>
      <dgm:spPr/>
    </dgm:pt>
    <dgm:pt modelId="{88F74919-A461-47E9-B327-90C6BF895B2A}" type="pres">
      <dgm:prSet presAssocID="{2C5005DB-E98C-425F-968C-7DEA84545B2C}" presName="sibTrans" presStyleCnt="0"/>
      <dgm:spPr/>
    </dgm:pt>
    <dgm:pt modelId="{A23A2B8E-7CA9-47DE-841E-67D10D3CE5E9}" type="pres">
      <dgm:prSet presAssocID="{525867F0-517F-4CDB-AA1F-40B4553821F0}" presName="compNode" presStyleCnt="0"/>
      <dgm:spPr/>
    </dgm:pt>
    <dgm:pt modelId="{8B19EA4D-0E86-4062-8170-8BA3CF797CF2}" type="pres">
      <dgm:prSet presAssocID="{525867F0-517F-4CDB-AA1F-40B4553821F0}" presName="bgRect" presStyleLbl="bgShp" presStyleIdx="1" presStyleCnt="3"/>
      <dgm:spPr/>
    </dgm:pt>
    <dgm:pt modelId="{A3604801-6CE4-465D-9366-898A79739FE3}" type="pres">
      <dgm:prSet presAssocID="{525867F0-517F-4CDB-AA1F-40B4553821F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0E1E6A1-DD14-4C5D-9A0E-E2BECA3C8BFA}" type="pres">
      <dgm:prSet presAssocID="{525867F0-517F-4CDB-AA1F-40B4553821F0}" presName="spaceRect" presStyleCnt="0"/>
      <dgm:spPr/>
    </dgm:pt>
    <dgm:pt modelId="{67EF47B3-D0D4-4C0A-8E3D-EA316EAFC3EE}" type="pres">
      <dgm:prSet presAssocID="{525867F0-517F-4CDB-AA1F-40B4553821F0}" presName="parTx" presStyleLbl="revTx" presStyleIdx="1" presStyleCnt="3">
        <dgm:presLayoutVars>
          <dgm:chMax val="0"/>
          <dgm:chPref val="0"/>
        </dgm:presLayoutVars>
      </dgm:prSet>
      <dgm:spPr/>
    </dgm:pt>
    <dgm:pt modelId="{67996016-1AB7-4E32-A2CC-C3200B933296}" type="pres">
      <dgm:prSet presAssocID="{CAB74682-6242-43ED-99FD-40CAFE8BE768}" presName="sibTrans" presStyleCnt="0"/>
      <dgm:spPr/>
    </dgm:pt>
    <dgm:pt modelId="{692C8BB0-2983-4DC8-B061-95EBACBFA581}" type="pres">
      <dgm:prSet presAssocID="{370FEDC8-038A-4966-8D09-248604869D78}" presName="compNode" presStyleCnt="0"/>
      <dgm:spPr/>
    </dgm:pt>
    <dgm:pt modelId="{3AA50159-E7A9-4B93-A785-66FFB9B72363}" type="pres">
      <dgm:prSet presAssocID="{370FEDC8-038A-4966-8D09-248604869D78}" presName="bgRect" presStyleLbl="bgShp" presStyleIdx="2" presStyleCnt="3"/>
      <dgm:spPr/>
    </dgm:pt>
    <dgm:pt modelId="{8C63B781-9F78-40C4-B04C-478790B09D32}" type="pres">
      <dgm:prSet presAssocID="{370FEDC8-038A-4966-8D09-248604869D7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A6B295C-845F-4684-A4F2-CE1397422984}" type="pres">
      <dgm:prSet presAssocID="{370FEDC8-038A-4966-8D09-248604869D78}" presName="spaceRect" presStyleCnt="0"/>
      <dgm:spPr/>
    </dgm:pt>
    <dgm:pt modelId="{2C8901C9-01E9-4A41-9B4F-34DF67DBD83C}" type="pres">
      <dgm:prSet presAssocID="{370FEDC8-038A-4966-8D09-248604869D7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ECF975C-D054-4486-8577-2E57A7C6B1FF}" type="presOf" srcId="{525867F0-517F-4CDB-AA1F-40B4553821F0}" destId="{67EF47B3-D0D4-4C0A-8E3D-EA316EAFC3EE}" srcOrd="0" destOrd="0" presId="urn:microsoft.com/office/officeart/2018/2/layout/IconVerticalSolidList"/>
    <dgm:cxn modelId="{EADE7B63-905D-4D67-A9FA-26AC4FDD265A}" srcId="{6E0C156F-5A5A-470D-9D27-5BFC85581B99}" destId="{370FEDC8-038A-4966-8D09-248604869D78}" srcOrd="2" destOrd="0" parTransId="{DC4972A9-9966-42D8-8472-CD2090FD5041}" sibTransId="{9E3E3998-2722-49AC-B2CA-B2DD43B1E776}"/>
    <dgm:cxn modelId="{CFEC1E79-B6B4-40FA-9F8C-AA9F369708BA}" type="presOf" srcId="{6E0C156F-5A5A-470D-9D27-5BFC85581B99}" destId="{6B213CA1-3097-43FA-9791-2455F0332E77}" srcOrd="0" destOrd="0" presId="urn:microsoft.com/office/officeart/2018/2/layout/IconVerticalSolidList"/>
    <dgm:cxn modelId="{46FD6982-F678-4F76-BB00-37EFC055ED1F}" type="presOf" srcId="{370FEDC8-038A-4966-8D09-248604869D78}" destId="{2C8901C9-01E9-4A41-9B4F-34DF67DBD83C}" srcOrd="0" destOrd="0" presId="urn:microsoft.com/office/officeart/2018/2/layout/IconVerticalSolidList"/>
    <dgm:cxn modelId="{E6BC8ECB-7118-4842-9E6F-7242A8E37990}" srcId="{6E0C156F-5A5A-470D-9D27-5BFC85581B99}" destId="{525867F0-517F-4CDB-AA1F-40B4553821F0}" srcOrd="1" destOrd="0" parTransId="{EA80808B-658A-4A1E-97A3-266864AD4413}" sibTransId="{CAB74682-6242-43ED-99FD-40CAFE8BE768}"/>
    <dgm:cxn modelId="{A70205DB-437D-4B45-AED0-6DA19CDB1B9F}" type="presOf" srcId="{D27E39B6-1B93-4D2F-9E4E-0B56D25E6DFC}" destId="{4CCACC37-BE93-446F-917D-220C0545AE83}" srcOrd="0" destOrd="0" presId="urn:microsoft.com/office/officeart/2018/2/layout/IconVerticalSolidList"/>
    <dgm:cxn modelId="{D20868FA-16D7-4C18-A223-E557B4E2CCB9}" srcId="{6E0C156F-5A5A-470D-9D27-5BFC85581B99}" destId="{D27E39B6-1B93-4D2F-9E4E-0B56D25E6DFC}" srcOrd="0" destOrd="0" parTransId="{4B29E705-2859-4309-B842-6D35385C968B}" sibTransId="{2C5005DB-E98C-425F-968C-7DEA84545B2C}"/>
    <dgm:cxn modelId="{E7BC9BF0-58ED-4ADA-A95A-2297E757AA0E}" type="presParOf" srcId="{6B213CA1-3097-43FA-9791-2455F0332E77}" destId="{236C382F-9F09-48F0-8D51-94EC8365B404}" srcOrd="0" destOrd="0" presId="urn:microsoft.com/office/officeart/2018/2/layout/IconVerticalSolidList"/>
    <dgm:cxn modelId="{B1D19ED2-0E86-4D47-912D-1840009B27D6}" type="presParOf" srcId="{236C382F-9F09-48F0-8D51-94EC8365B404}" destId="{52950BDF-2553-4F48-9712-EE4FE2180BDE}" srcOrd="0" destOrd="0" presId="urn:microsoft.com/office/officeart/2018/2/layout/IconVerticalSolidList"/>
    <dgm:cxn modelId="{0EBEE1A6-678F-41BB-A3F3-D3FCCB330076}" type="presParOf" srcId="{236C382F-9F09-48F0-8D51-94EC8365B404}" destId="{CAF1809A-E987-492B-9348-CCBE76D2BCEE}" srcOrd="1" destOrd="0" presId="urn:microsoft.com/office/officeart/2018/2/layout/IconVerticalSolidList"/>
    <dgm:cxn modelId="{4FAD5EED-2121-4723-999E-F236863DCE62}" type="presParOf" srcId="{236C382F-9F09-48F0-8D51-94EC8365B404}" destId="{EDD4A96F-0EEF-493E-9A81-E190AB71C6C5}" srcOrd="2" destOrd="0" presId="urn:microsoft.com/office/officeart/2018/2/layout/IconVerticalSolidList"/>
    <dgm:cxn modelId="{E7E704BD-6C01-4FAC-B043-D10092821158}" type="presParOf" srcId="{236C382F-9F09-48F0-8D51-94EC8365B404}" destId="{4CCACC37-BE93-446F-917D-220C0545AE83}" srcOrd="3" destOrd="0" presId="urn:microsoft.com/office/officeart/2018/2/layout/IconVerticalSolidList"/>
    <dgm:cxn modelId="{6E84ECD7-70B2-457E-AD41-AF8BB1E505C0}" type="presParOf" srcId="{6B213CA1-3097-43FA-9791-2455F0332E77}" destId="{88F74919-A461-47E9-B327-90C6BF895B2A}" srcOrd="1" destOrd="0" presId="urn:microsoft.com/office/officeart/2018/2/layout/IconVerticalSolidList"/>
    <dgm:cxn modelId="{A8432A20-633E-4C74-8E5E-59EA6B26676F}" type="presParOf" srcId="{6B213CA1-3097-43FA-9791-2455F0332E77}" destId="{A23A2B8E-7CA9-47DE-841E-67D10D3CE5E9}" srcOrd="2" destOrd="0" presId="urn:microsoft.com/office/officeart/2018/2/layout/IconVerticalSolidList"/>
    <dgm:cxn modelId="{11F323A1-1527-4384-8D10-442EED44BEBD}" type="presParOf" srcId="{A23A2B8E-7CA9-47DE-841E-67D10D3CE5E9}" destId="{8B19EA4D-0E86-4062-8170-8BA3CF797CF2}" srcOrd="0" destOrd="0" presId="urn:microsoft.com/office/officeart/2018/2/layout/IconVerticalSolidList"/>
    <dgm:cxn modelId="{37E3C63D-E985-43A3-B380-B12C8B2E08D2}" type="presParOf" srcId="{A23A2B8E-7CA9-47DE-841E-67D10D3CE5E9}" destId="{A3604801-6CE4-465D-9366-898A79739FE3}" srcOrd="1" destOrd="0" presId="urn:microsoft.com/office/officeart/2018/2/layout/IconVerticalSolidList"/>
    <dgm:cxn modelId="{2C5389A5-6A32-48D4-9C88-36D04683F492}" type="presParOf" srcId="{A23A2B8E-7CA9-47DE-841E-67D10D3CE5E9}" destId="{B0E1E6A1-DD14-4C5D-9A0E-E2BECA3C8BFA}" srcOrd="2" destOrd="0" presId="urn:microsoft.com/office/officeart/2018/2/layout/IconVerticalSolidList"/>
    <dgm:cxn modelId="{BD298274-6881-4500-BA3D-0566285475F0}" type="presParOf" srcId="{A23A2B8E-7CA9-47DE-841E-67D10D3CE5E9}" destId="{67EF47B3-D0D4-4C0A-8E3D-EA316EAFC3EE}" srcOrd="3" destOrd="0" presId="urn:microsoft.com/office/officeart/2018/2/layout/IconVerticalSolidList"/>
    <dgm:cxn modelId="{3AB2CC60-F226-4D83-A84E-9AD6C119F704}" type="presParOf" srcId="{6B213CA1-3097-43FA-9791-2455F0332E77}" destId="{67996016-1AB7-4E32-A2CC-C3200B933296}" srcOrd="3" destOrd="0" presId="urn:microsoft.com/office/officeart/2018/2/layout/IconVerticalSolidList"/>
    <dgm:cxn modelId="{7E41CE38-4B0E-4638-A3CF-AEF6AF9148C4}" type="presParOf" srcId="{6B213CA1-3097-43FA-9791-2455F0332E77}" destId="{692C8BB0-2983-4DC8-B061-95EBACBFA581}" srcOrd="4" destOrd="0" presId="urn:microsoft.com/office/officeart/2018/2/layout/IconVerticalSolidList"/>
    <dgm:cxn modelId="{CF0A43FE-E09E-4C1B-AAF0-A55D12156A01}" type="presParOf" srcId="{692C8BB0-2983-4DC8-B061-95EBACBFA581}" destId="{3AA50159-E7A9-4B93-A785-66FFB9B72363}" srcOrd="0" destOrd="0" presId="urn:microsoft.com/office/officeart/2018/2/layout/IconVerticalSolidList"/>
    <dgm:cxn modelId="{A883AF9A-1DC6-4B43-B910-A7AD18401D73}" type="presParOf" srcId="{692C8BB0-2983-4DC8-B061-95EBACBFA581}" destId="{8C63B781-9F78-40C4-B04C-478790B09D32}" srcOrd="1" destOrd="0" presId="urn:microsoft.com/office/officeart/2018/2/layout/IconVerticalSolidList"/>
    <dgm:cxn modelId="{5136A58F-5522-44CA-B8BE-155868875B1A}" type="presParOf" srcId="{692C8BB0-2983-4DC8-B061-95EBACBFA581}" destId="{AA6B295C-845F-4684-A4F2-CE1397422984}" srcOrd="2" destOrd="0" presId="urn:microsoft.com/office/officeart/2018/2/layout/IconVerticalSolidList"/>
    <dgm:cxn modelId="{3680428F-1303-4A2A-AD0A-B7194F7AA1C0}" type="presParOf" srcId="{692C8BB0-2983-4DC8-B061-95EBACBFA581}" destId="{2C8901C9-01E9-4A41-9B4F-34DF67DBD83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AB0BD7-8E43-42AE-9F01-042239D494B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80BDA0A-9EE2-4347-93CA-89B00C1FFB16}">
      <dgm:prSet/>
      <dgm:spPr/>
      <dgm:t>
        <a:bodyPr/>
        <a:lstStyle/>
        <a:p>
          <a:r>
            <a:rPr lang="en-US" b="1"/>
            <a:t>The 20% Rule:</a:t>
          </a:r>
          <a:r>
            <a:rPr lang="en-US"/>
            <a:t> Cap discounts on Furniture.</a:t>
          </a:r>
        </a:p>
      </dgm:t>
    </dgm:pt>
    <dgm:pt modelId="{E0E4B4DF-9601-4194-A99E-76015887FD2C}" type="parTrans" cxnId="{89D35E52-281A-46F1-9CCA-A52AF27D62A6}">
      <dgm:prSet/>
      <dgm:spPr/>
      <dgm:t>
        <a:bodyPr/>
        <a:lstStyle/>
        <a:p>
          <a:endParaRPr lang="en-US"/>
        </a:p>
      </dgm:t>
    </dgm:pt>
    <dgm:pt modelId="{9D527702-3B9B-4A41-A59F-5776D7A0EAE4}" type="sibTrans" cxnId="{89D35E52-281A-46F1-9CCA-A52AF27D62A6}">
      <dgm:prSet/>
      <dgm:spPr/>
      <dgm:t>
        <a:bodyPr/>
        <a:lstStyle/>
        <a:p>
          <a:endParaRPr lang="en-US"/>
        </a:p>
      </dgm:t>
    </dgm:pt>
    <dgm:pt modelId="{D05E00AA-760B-449A-8EB5-370B20CCBC12}">
      <dgm:prSet/>
      <dgm:spPr/>
      <dgm:t>
        <a:bodyPr/>
        <a:lstStyle/>
        <a:p>
          <a:r>
            <a:rPr lang="en-US" b="1"/>
            <a:t>2. Texas Audit:</a:t>
          </a:r>
          <a:r>
            <a:rPr lang="en-US"/>
            <a:t> Investigate logistics/shipping costs in the South.</a:t>
          </a:r>
        </a:p>
      </dgm:t>
    </dgm:pt>
    <dgm:pt modelId="{70A67D8C-4AEB-4A9A-AFDF-FF9D3346B6CD}" type="parTrans" cxnId="{1AED03BF-D500-4CA9-9BC7-D10B66FC553F}">
      <dgm:prSet/>
      <dgm:spPr/>
      <dgm:t>
        <a:bodyPr/>
        <a:lstStyle/>
        <a:p>
          <a:endParaRPr lang="en-US"/>
        </a:p>
      </dgm:t>
    </dgm:pt>
    <dgm:pt modelId="{712ABEEC-2CA3-42BB-B045-19A93D529E35}" type="sibTrans" cxnId="{1AED03BF-D500-4CA9-9BC7-D10B66FC553F}">
      <dgm:prSet/>
      <dgm:spPr/>
      <dgm:t>
        <a:bodyPr/>
        <a:lstStyle/>
        <a:p>
          <a:endParaRPr lang="en-US"/>
        </a:p>
      </dgm:t>
    </dgm:pt>
    <dgm:pt modelId="{DB8ABDB9-CCC8-4872-B05A-5AB3EB4AA2E3}">
      <dgm:prSet/>
      <dgm:spPr/>
      <dgm:t>
        <a:bodyPr/>
        <a:lstStyle/>
        <a:p>
          <a:r>
            <a:rPr lang="en-US" b="1"/>
            <a:t>3. Pivot to Tech:</a:t>
          </a:r>
          <a:r>
            <a:rPr lang="en-US"/>
            <a:t> Reallocate marketing budget to high-margin electronics.</a:t>
          </a:r>
        </a:p>
      </dgm:t>
    </dgm:pt>
    <dgm:pt modelId="{BF5CD1EA-F0E3-4A83-B2DD-84F0754D41E8}" type="parTrans" cxnId="{83C5D767-F315-47FE-9742-36A55C4CC2B8}">
      <dgm:prSet/>
      <dgm:spPr/>
      <dgm:t>
        <a:bodyPr/>
        <a:lstStyle/>
        <a:p>
          <a:endParaRPr lang="en-US"/>
        </a:p>
      </dgm:t>
    </dgm:pt>
    <dgm:pt modelId="{E9740ACC-A512-40EF-9603-145DD36A4F1F}" type="sibTrans" cxnId="{83C5D767-F315-47FE-9742-36A55C4CC2B8}">
      <dgm:prSet/>
      <dgm:spPr/>
      <dgm:t>
        <a:bodyPr/>
        <a:lstStyle/>
        <a:p>
          <a:endParaRPr lang="en-US"/>
        </a:p>
      </dgm:t>
    </dgm:pt>
    <dgm:pt modelId="{8154F657-08AA-4EA9-9DBD-F5EB3C7404CA}" type="pres">
      <dgm:prSet presAssocID="{93AB0BD7-8E43-42AE-9F01-042239D494B8}" presName="linear" presStyleCnt="0">
        <dgm:presLayoutVars>
          <dgm:animLvl val="lvl"/>
          <dgm:resizeHandles val="exact"/>
        </dgm:presLayoutVars>
      </dgm:prSet>
      <dgm:spPr/>
    </dgm:pt>
    <dgm:pt modelId="{969935E8-C86B-42D7-9C36-64B726DB4EC0}" type="pres">
      <dgm:prSet presAssocID="{380BDA0A-9EE2-4347-93CA-89B00C1FFB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42FF8E-9AB9-4D03-847E-DF458C249939}" type="pres">
      <dgm:prSet presAssocID="{9D527702-3B9B-4A41-A59F-5776D7A0EAE4}" presName="spacer" presStyleCnt="0"/>
      <dgm:spPr/>
    </dgm:pt>
    <dgm:pt modelId="{DEA1DE40-948E-4F00-98A2-30C81C21E357}" type="pres">
      <dgm:prSet presAssocID="{D05E00AA-760B-449A-8EB5-370B20CCBC1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0BA97D-6F64-4D28-8968-C837374DA644}" type="pres">
      <dgm:prSet presAssocID="{712ABEEC-2CA3-42BB-B045-19A93D529E35}" presName="spacer" presStyleCnt="0"/>
      <dgm:spPr/>
    </dgm:pt>
    <dgm:pt modelId="{155B2816-2C73-4FE0-9D98-0F2382CCB890}" type="pres">
      <dgm:prSet presAssocID="{DB8ABDB9-CCC8-4872-B05A-5AB3EB4AA2E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2FEE102-C8EE-4E57-B7C2-94EB90264AE8}" type="presOf" srcId="{93AB0BD7-8E43-42AE-9F01-042239D494B8}" destId="{8154F657-08AA-4EA9-9DBD-F5EB3C7404CA}" srcOrd="0" destOrd="0" presId="urn:microsoft.com/office/officeart/2005/8/layout/vList2"/>
    <dgm:cxn modelId="{68C8D135-81F6-4B22-B6AD-EE07E0AF4B9B}" type="presOf" srcId="{DB8ABDB9-CCC8-4872-B05A-5AB3EB4AA2E3}" destId="{155B2816-2C73-4FE0-9D98-0F2382CCB890}" srcOrd="0" destOrd="0" presId="urn:microsoft.com/office/officeart/2005/8/layout/vList2"/>
    <dgm:cxn modelId="{83C5D767-F315-47FE-9742-36A55C4CC2B8}" srcId="{93AB0BD7-8E43-42AE-9F01-042239D494B8}" destId="{DB8ABDB9-CCC8-4872-B05A-5AB3EB4AA2E3}" srcOrd="2" destOrd="0" parTransId="{BF5CD1EA-F0E3-4A83-B2DD-84F0754D41E8}" sibTransId="{E9740ACC-A512-40EF-9603-145DD36A4F1F}"/>
    <dgm:cxn modelId="{89D35E52-281A-46F1-9CCA-A52AF27D62A6}" srcId="{93AB0BD7-8E43-42AE-9F01-042239D494B8}" destId="{380BDA0A-9EE2-4347-93CA-89B00C1FFB16}" srcOrd="0" destOrd="0" parTransId="{E0E4B4DF-9601-4194-A99E-76015887FD2C}" sibTransId="{9D527702-3B9B-4A41-A59F-5776D7A0EAE4}"/>
    <dgm:cxn modelId="{E333A2BB-1CAE-4711-994D-10B4625F024D}" type="presOf" srcId="{D05E00AA-760B-449A-8EB5-370B20CCBC12}" destId="{DEA1DE40-948E-4F00-98A2-30C81C21E357}" srcOrd="0" destOrd="0" presId="urn:microsoft.com/office/officeart/2005/8/layout/vList2"/>
    <dgm:cxn modelId="{1AED03BF-D500-4CA9-9BC7-D10B66FC553F}" srcId="{93AB0BD7-8E43-42AE-9F01-042239D494B8}" destId="{D05E00AA-760B-449A-8EB5-370B20CCBC12}" srcOrd="1" destOrd="0" parTransId="{70A67D8C-4AEB-4A9A-AFDF-FF9D3346B6CD}" sibTransId="{712ABEEC-2CA3-42BB-B045-19A93D529E35}"/>
    <dgm:cxn modelId="{EAD038FE-87C4-4BC8-8F5D-48B9065647B9}" type="presOf" srcId="{380BDA0A-9EE2-4347-93CA-89B00C1FFB16}" destId="{969935E8-C86B-42D7-9C36-64B726DB4EC0}" srcOrd="0" destOrd="0" presId="urn:microsoft.com/office/officeart/2005/8/layout/vList2"/>
    <dgm:cxn modelId="{9284C0DA-3FF6-45F1-9D52-1096EBA8670C}" type="presParOf" srcId="{8154F657-08AA-4EA9-9DBD-F5EB3C7404CA}" destId="{969935E8-C86B-42D7-9C36-64B726DB4EC0}" srcOrd="0" destOrd="0" presId="urn:microsoft.com/office/officeart/2005/8/layout/vList2"/>
    <dgm:cxn modelId="{086FF477-39EB-432E-8D01-9462375B7CA5}" type="presParOf" srcId="{8154F657-08AA-4EA9-9DBD-F5EB3C7404CA}" destId="{7242FF8E-9AB9-4D03-847E-DF458C249939}" srcOrd="1" destOrd="0" presId="urn:microsoft.com/office/officeart/2005/8/layout/vList2"/>
    <dgm:cxn modelId="{062C5912-C243-48B1-980C-664DFC0D53F2}" type="presParOf" srcId="{8154F657-08AA-4EA9-9DBD-F5EB3C7404CA}" destId="{DEA1DE40-948E-4F00-98A2-30C81C21E357}" srcOrd="2" destOrd="0" presId="urn:microsoft.com/office/officeart/2005/8/layout/vList2"/>
    <dgm:cxn modelId="{E790E87E-85C7-4A96-B1AE-94A68F92BC72}" type="presParOf" srcId="{8154F657-08AA-4EA9-9DBD-F5EB3C7404CA}" destId="{510BA97D-6F64-4D28-8968-C837374DA644}" srcOrd="3" destOrd="0" presId="urn:microsoft.com/office/officeart/2005/8/layout/vList2"/>
    <dgm:cxn modelId="{E10297EC-916B-4185-A8DA-FE90EB43D591}" type="presParOf" srcId="{8154F657-08AA-4EA9-9DBD-F5EB3C7404CA}" destId="{155B2816-2C73-4FE0-9D98-0F2382CCB89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50BDF-2553-4F48-9712-EE4FE2180BDE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F1809A-E987-492B-9348-CCBE76D2BCEE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ACC37-BE93-446F-917D-220C0545AE83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Operating in 48 States.</a:t>
          </a:r>
        </a:p>
      </dsp:txBody>
      <dsp:txXfrm>
        <a:off x="1939533" y="717"/>
        <a:ext cx="4362067" cy="1679249"/>
      </dsp:txXfrm>
    </dsp:sp>
    <dsp:sp modelId="{8B19EA4D-0E86-4062-8170-8BA3CF797CF2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04801-6CE4-465D-9366-898A79739FE3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F47B3-D0D4-4C0A-8E3D-EA316EAFC3EE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Challenge: High revenue growth vs. inconsistent profit margins.</a:t>
          </a:r>
        </a:p>
      </dsp:txBody>
      <dsp:txXfrm>
        <a:off x="1939533" y="2099779"/>
        <a:ext cx="4362067" cy="1679249"/>
      </dsp:txXfrm>
    </dsp:sp>
    <dsp:sp modelId="{3AA50159-E7A9-4B93-A785-66FFB9B72363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63B781-9F78-40C4-B04C-478790B09D32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901C9-01E9-4A41-9B4F-34DF67DBD83C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Goal: Identify "Profit Leaks" and optimize discounting.</a:t>
          </a:r>
        </a:p>
      </dsp:txBody>
      <dsp:txXfrm>
        <a:off x="1939533" y="4198841"/>
        <a:ext cx="4362067" cy="167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935E8-C86B-42D7-9C36-64B726DB4EC0}">
      <dsp:nvSpPr>
        <dsp:cNvPr id="0" name=""/>
        <dsp:cNvSpPr/>
      </dsp:nvSpPr>
      <dsp:spPr>
        <a:xfrm>
          <a:off x="0" y="36440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The 20% Rule:</a:t>
          </a:r>
          <a:r>
            <a:rPr lang="en-US" sz="3100" kern="1200"/>
            <a:t> Cap discounts on Furniture.</a:t>
          </a:r>
        </a:p>
      </dsp:txBody>
      <dsp:txXfrm>
        <a:off x="84655" y="121095"/>
        <a:ext cx="6497523" cy="1564849"/>
      </dsp:txXfrm>
    </dsp:sp>
    <dsp:sp modelId="{DEA1DE40-948E-4F00-98A2-30C81C21E357}">
      <dsp:nvSpPr>
        <dsp:cNvPr id="0" name=""/>
        <dsp:cNvSpPr/>
      </dsp:nvSpPr>
      <dsp:spPr>
        <a:xfrm>
          <a:off x="0" y="1859880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2. Texas Audit:</a:t>
          </a:r>
          <a:r>
            <a:rPr lang="en-US" sz="3100" kern="1200"/>
            <a:t> Investigate logistics/shipping costs in the South.</a:t>
          </a:r>
        </a:p>
      </dsp:txBody>
      <dsp:txXfrm>
        <a:off x="84655" y="1944535"/>
        <a:ext cx="6497523" cy="1564849"/>
      </dsp:txXfrm>
    </dsp:sp>
    <dsp:sp modelId="{155B2816-2C73-4FE0-9D98-0F2382CCB890}">
      <dsp:nvSpPr>
        <dsp:cNvPr id="0" name=""/>
        <dsp:cNvSpPr/>
      </dsp:nvSpPr>
      <dsp:spPr>
        <a:xfrm>
          <a:off x="0" y="3683319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3. Pivot to Tech:</a:t>
          </a:r>
          <a:r>
            <a:rPr lang="en-US" sz="3100" kern="1200"/>
            <a:t> Reallocate marketing budget to high-margin electronics.</a:t>
          </a:r>
        </a:p>
      </dsp:txBody>
      <dsp:txXfrm>
        <a:off x="84655" y="3767974"/>
        <a:ext cx="6497523" cy="1564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3319-DE95-A6D2-249E-04DF843D7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1FD63-A5AA-A7AC-B881-EC3876BC1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0CBD4-6B5B-444B-78ED-82EA23548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A8B25-7A5B-798B-30ED-9A44219C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EFBE7-F5BF-DD4D-378C-BD239E3C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9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7E14-2466-A586-709F-173DF565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03B8F-CEEB-B994-22C2-DE28B8CA0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FEC4B-4C70-D987-DD48-7CA8E348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82BEA-662C-3F7F-A5BD-7A465470E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A59A7-F49E-AB75-CE2E-5663734A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0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FB9F-66AB-AFF9-67B9-AA0B47BD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33842-3867-8940-FAB9-3B113C8A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BD488-FC16-B1C6-C987-E7619924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AC811-B3AC-33E5-6A65-F73418A3E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3CA56-2018-B189-B553-9BA922A7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7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DBA3-39DF-8EE9-1DC9-65A1312BB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B9AD1-1B63-B580-0C65-EB55B9642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95AB0-BD05-A319-7979-BC622E8C2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6BDE9-3576-55E3-5D7B-C4A31455A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85B18-5C56-D080-24B7-00DE91C2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7060A-5DC9-6632-5FD5-ABC5E2D4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56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DF3B-6AA8-45C9-3B3C-5BBD0984F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9FE0F-95B5-ED1D-16D2-D03F2833B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001DF-BE13-9C6C-5430-FFA42668B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A4D98-09C4-6CE7-D77E-036A3181A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3876F-C0EF-9B73-104A-38E9CC9D0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6E7D6-CD5A-24FC-8B7C-C7FED2A7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067639-66B1-BC62-8C5C-069C278C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60BA8-B85A-5ED6-DB29-B80CF944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9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1ECC-8D0D-4708-DFF8-9A6FA0C9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5247E0-6BC1-CD84-A9DF-F2F52E6A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3594D-E371-21EE-3835-22C159039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D835F-1B14-53D2-A2A5-307483D9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41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8C3224-D7F2-12CD-1683-37C6239C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1ECED-ACD6-47AB-5D80-3A8E9D7E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99D93-4AB1-CADA-DE2E-253D5567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9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7D1C-2C85-ED19-6414-07414AA0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1B235-7872-893E-7B97-96DFFEE83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2DEED-98B6-DBAD-CACD-88E7504E3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40EEB-7777-4652-C246-25851B00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AA53D-E250-E474-1EFB-9E5C839E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7A311-2472-5FA5-C9DA-219D9E7E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1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677C-A786-07C5-42A7-5A47342A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E6116-1E3C-0722-01EE-20BC4AFD3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E33B5-D9FB-F37A-EA74-D4843DA23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E26DA-0319-EED5-4905-EA03D37A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7521F-3E29-BE21-A7C1-C80E9AFC7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6BB32-FD36-8E9F-D3C2-BB6402C9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8FF2-14E0-B0A1-2035-C99DF343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B1738-D10F-C53F-0E6E-059912F52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239F-EB40-8DDD-7720-D35B2B3B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45134-AEBA-C21C-8451-74470B24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5FBF2-66DD-962B-5FA8-7483DAA8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0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CC0CF-F8B4-674E-7242-F79F7A202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95C42-CF13-F5A8-B57E-136AD9148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BF457-FF57-A7CE-19D7-57147F78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770C2-A99A-012B-4502-A7D840E9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3DF7D-05A4-73F1-48F6-E2548140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65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A7649-0F99-AAEF-73D4-332D8080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7A63E-3321-97EB-5A04-711FDA46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EE6E2-B7BB-58C3-5371-D34EE8A0D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6693A-5092-43AF-A997-6E7E6831E55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D18AB-2D55-5ED5-39FA-D932D661E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F1A0D-1900-A692-97D4-A5AB6A514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658B4-D96B-401E-BCDA-D4696B4A3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3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BF84-A84F-FC2D-3289-4313B6F927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Strategic Performance Audit: Path to Profitability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464E-025C-FB33-140E-732A81624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of the Superstore Sales Ecosystem (2014–2017)</a:t>
            </a:r>
          </a:p>
        </p:txBody>
      </p:sp>
    </p:spTree>
    <p:extLst>
      <p:ext uri="{BB962C8B-B14F-4D97-AF65-F5344CB8AC3E}">
        <p14:creationId xmlns:p14="http://schemas.microsoft.com/office/powerpoint/2010/main" val="272117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37DCA7-32C8-D965-71C3-1AA59AE3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Business Context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426C90-4DCA-BAFE-7952-85C5DA8A7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264067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0077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355DC-CEF8-1974-E7DE-4A0C7B77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/>
              <a:t>Data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DE842-1E1F-6FBC-3FDB-09C78DE08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800" dirty="0"/>
              <a:t>9,900+ Transactions.</a:t>
            </a:r>
          </a:p>
          <a:p>
            <a:r>
              <a:rPr lang="en-US" sz="1800" dirty="0"/>
              <a:t>$1.9M Total Sales | $239K Total Profit.</a:t>
            </a:r>
          </a:p>
          <a:p>
            <a:r>
              <a:rPr lang="en-US" sz="1800" dirty="0"/>
              <a:t>Categories: Furniture, Office Supplies, Technology.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D63B9-E5E5-AC57-A8BE-59E7DDA0A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982693"/>
            <a:ext cx="11164824" cy="298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1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B5CA4-4D1D-9906-5DD7-10AC8B93D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US" sz="3400"/>
              <a:t>Sales Trends (The Growth Story)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18762-CE82-193E-5833-C585EF95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44" b="11057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21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B8381-4515-CC51-3FCD-5B9A64EB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r>
              <a:rPr lang="en-US" sz="2200"/>
              <a:t>Steady year-over-year growth.</a:t>
            </a:r>
          </a:p>
          <a:p>
            <a:r>
              <a:rPr lang="en-US" sz="2200"/>
              <a:t>Significant Q4 seasonality.</a:t>
            </a:r>
          </a:p>
        </p:txBody>
      </p:sp>
    </p:spTree>
    <p:extLst>
      <p:ext uri="{BB962C8B-B14F-4D97-AF65-F5344CB8AC3E}">
        <p14:creationId xmlns:p14="http://schemas.microsoft.com/office/powerpoint/2010/main" val="52090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7B3A-5C44-2FF7-4782-3E5EBCD10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Profitability Analysis (The Category Problem)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27E6E-B49D-2F36-D2E7-487D50B90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Technology is the leader.</a:t>
            </a:r>
          </a:p>
          <a:p>
            <a:r>
              <a:rPr lang="en-US" dirty="0"/>
              <a:t>Furniture (Tables/Bookcases) is underperforming.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F3A008-FCF8-D804-D562-D1D24603E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461962"/>
            <a:ext cx="1151572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40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5DD2F7-0A99-5EDC-1680-74FC860FE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4300"/>
              <a:t>Discount Strategy (The 'Why')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064B7-589C-2B3C-3095-2FF1F5F58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57" y="299509"/>
            <a:ext cx="4944597" cy="625898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2729-CF8D-1C8C-6ECC-C34BABB44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Average Discount: 15.8%.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The "20% Breaking Point."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320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410DB-3DE3-2A3E-FFA2-CDAC51CC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Regional Performance (The 'Where')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2CF50-6962-C6EE-34EB-E636EC044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Top States: NY &amp; CA.</a:t>
            </a:r>
          </a:p>
          <a:p>
            <a:r>
              <a:rPr lang="en-US" sz="2200"/>
              <a:t>Problem State: Texas (-$25k loss).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92E6F-770E-5750-6859-6D401FB9B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17772"/>
            <a:ext cx="6903720" cy="502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1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5FD94-B90F-5E50-228F-28C45B1F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800">
                <a:solidFill>
                  <a:srgbClr val="FFFFFF"/>
                </a:solidFill>
              </a:rPr>
              <a:t>Key Recommendations</a:t>
            </a:r>
          </a:p>
        </p:txBody>
      </p:sp>
      <p:graphicFrame>
        <p:nvGraphicFramePr>
          <p:cNvPr id="42" name="Content Placeholder 2">
            <a:extLst>
              <a:ext uri="{FF2B5EF4-FFF2-40B4-BE49-F238E27FC236}">
                <a16:creationId xmlns:a16="http://schemas.microsoft.com/office/drawing/2014/main" id="{09990CBB-0B94-681A-5E99-5ED8E6DBC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48266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4033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CBC72-9DA3-E130-5070-D4716F80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5EB8-E636-6F4F-E70E-7BAB538C9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Data-driven decision making.</a:t>
            </a:r>
          </a:p>
          <a:p>
            <a:r>
              <a:rPr lang="en-US" sz="2200"/>
              <a:t>Target: 18% Profit Ratio.</a:t>
            </a:r>
          </a:p>
          <a:p>
            <a:r>
              <a:rPr lang="en-US" sz="2200"/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CDCAE-4C69-321E-AB5C-230DF8C7A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156" y="640080"/>
            <a:ext cx="609599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56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198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Strategic Performance Audit: Path to Profitability</vt:lpstr>
      <vt:lpstr>Business Context</vt:lpstr>
      <vt:lpstr>Data Overview</vt:lpstr>
      <vt:lpstr>Sales Trends (The Growth Story)</vt:lpstr>
      <vt:lpstr>Profitability Analysis (The Category Problem)</vt:lpstr>
      <vt:lpstr>Discount Strategy (The 'Why')</vt:lpstr>
      <vt:lpstr>Regional Performance (The 'Where')</vt:lpstr>
      <vt:lpstr>Key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Moaqir Ahmad Mian</dc:creator>
  <cp:lastModifiedBy>Moaqir Ahmad Mian</cp:lastModifiedBy>
  <cp:revision>59</cp:revision>
  <dcterms:created xsi:type="dcterms:W3CDTF">2026-02-28T18:28:29Z</dcterms:created>
  <dcterms:modified xsi:type="dcterms:W3CDTF">2026-02-28T19:01:11Z</dcterms:modified>
</cp:coreProperties>
</file>